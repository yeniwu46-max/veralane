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各位评委好，我的项目叫 VeraLane，定位是一款“每一步都可核验”的 AI Banking 智能体。它让用户用自然语言提出银行业务需求，但不把资金操作交给模型自由发挥。我们把意图理解、银行工具校验、用户授权和操作回执连接起来，让每一步都有据可查。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银行业务很适合自然语言交互，却不适合模糊执行。“转给王明三百元”可能有多个同名联系人；“帮我少花三百”也不代表系统可以擅自取消协议。关键不只是听懂句子，还要核对对象、金额、影响范围和授权状态。VeraLane 的核心原则是：先把需求变成清晰计划，再让用户确认，最后由确定性业务工具执行。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从用户对话开始。离线规则或可选模型只负责提取受限的意图字段；服务端再对联系人、金额、账单证据和业务状态做校验，并生成待确认计划。权限层决定这是普通确认，还是还需要模拟强验证。用户确认后，固定工具在 SQLite 事务中更新虚构账本，并生成回执和审计记录。模型不能写数据库、调用任意代码或声称一个尚未发生的业务已经完成。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展示账单分析。用户询问八月餐饮支出，系统返回一笔、共一百三十七元，并可打开对应交易查看证据。由于样例上期没有可比基数，界面不会虚构增长百分比。查询结果会展示期间与口径，用户可以继续查看原始交易，而不只是看到一个没有来源的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用户提出“下个月少花三百元”，系统把历史支出和订阅放进一个计划。用户选择青柠音乐后，系统展示预计减少一百二十八元，仍差一百七十二元。确认后只取消模拟代扣协议；这不代表商户已经退订，也不代表收到退款。可执行项和目标之间的差额会如实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转账时，系统先解析收款人、金额和备注。遇到同名联系人会追问并展示脱敏线索；信息不足时不猜。明确联系人后，界面冻结收款对象和金额，先展示转账计划。用户确认时，后端会再次检查账户余额、日累计额度和联系人状态。超过规则阈值或属于高风险操作时，流程还需要模拟验证和另一项明确确认。相同操作重试会复用已有回执，避免因为网络重试重复扣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同一套计划和授权机制也用于其他金融场景：预约和周期转账有执行窗口；AA 收款按整数分核算并逐笔记录回款；卡片锁定后，模拟支付会在服务端再次检查卡状态；理财会展示风险评估和申赎状态；生日任务会先预留资金，再按阶段生成订单。这里展示的是虚构系统里的状态变化，不是银行、商户或支付机构的真实交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查询只读；低风险变更要展示影响并确认；高风险操作要进行与当前计划绑定的模拟验证，再单独确认。执行时重新核对计划快照、金额、状态和权限，避免旧计划被修改后仍然执行。转账红级阈值严格大于一千元；挂失、投资申赎等部分高风险动作本身也进入红级。挑战码会在演示页面展示，不是真实 OTP 或银行身份认证。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仓库最近的回归记录为六百六十项后端测试通过，前端 lint 和生产构建通过，也有隔离数据库和浏览器场景记录。模型评测必须和规则降级分开：最近一次隔离在线评测发出三条合成请求，其中两条鉴权失败，一条解析出转账意图和三百元金额，但收款人及备注未核验。样本不足以估算准确率，所以目前演示默认离线，规则结果不冒充模型成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评委可通过受控的共享口令访问 HTTPS 演示站，源码包也提供部署步骤和复现说明。云端模型密钥为空，服务使用虚构数据；口令通过受控渠道另行提供。后续进入真实金融场景之前，仍需补充用户身份体系、按账户隔离、独立风控、真实验证和合规评估。VeraLane 当前证明的是一种可核验的 Agent 执行链路，而不是已经具备真实银行接入资质。让 AI 理解需求，让工具核对事实，让用户始终握有授权权。Banking, verified. 谢谢各位评委。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 /   AI BANKING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可信执行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9418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10" kern="0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BANKING, VERIFIED.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让每一步</a:t>
            </a:r>
            <a:endParaRPr lang="en-US" sz="3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都有据可查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68096" y="3721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/  AI Banking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8096" y="422452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自然语言进入  ·  工具核对  ·  用户授权  ·  可追溯回执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2377440"/>
            <a:ext cx="1353312" cy="868680"/>
          </a:xfrm>
          <a:prstGeom prst="line">
            <a:avLst/>
          </a:prstGeom>
          <a:noFill/>
          <a:ln w="38100">
            <a:solidFill>
              <a:srgbClr val="293D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3456432"/>
            <a:ext cx="1353312" cy="859536"/>
          </a:xfrm>
          <a:prstGeom prst="line">
            <a:avLst/>
          </a:prstGeom>
          <a:noFill/>
          <a:ln w="38100">
            <a:solidFill>
              <a:srgbClr val="293D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1920240"/>
            <a:ext cx="1188720" cy="1188720"/>
          </a:xfrm>
          <a:prstGeom prst="ellipse">
            <a:avLst/>
          </a:prstGeom>
          <a:solidFill>
            <a:srgbClr val="172941"/>
          </a:solidFill>
          <a:ln w="20320">
            <a:solidFill>
              <a:srgbClr val="61A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1305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50608" y="32186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50608" y="3465576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理解需求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235440" y="3108960"/>
            <a:ext cx="1188720" cy="1188720"/>
          </a:xfrm>
          <a:prstGeom prst="ellipse">
            <a:avLst/>
          </a:prstGeom>
          <a:solidFill>
            <a:srgbClr val="172941"/>
          </a:solidFill>
          <a:ln w="20320">
            <a:solidFill>
              <a:srgbClr val="8A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33192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D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05088" y="44074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D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05088" y="4654296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核对数据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4343400"/>
            <a:ext cx="1188720" cy="1188720"/>
          </a:xfrm>
          <a:prstGeom prst="ellipse">
            <a:avLst/>
          </a:prstGeom>
          <a:solidFill>
            <a:srgbClr val="172941"/>
          </a:solidFill>
          <a:ln w="20320">
            <a:solidFill>
              <a:srgbClr val="F4B8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45537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04888" y="56418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AUTHORIZE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04888" y="5888736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确认后执行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" y="60807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深圳国际金融科技大赛  ·  人工智能赛道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 /   AI BANKING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理解需求只是起点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银行操作还要回答：对象是谁、影响什么、是谁批准、结果如何核对？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3520440" cy="2487168"/>
          </a:xfrm>
          <a:prstGeom prst="roundRect">
            <a:avLst>
              <a:gd name="adj" fmla="val 5882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66544"/>
            <a:ext cx="41148" cy="2194560"/>
          </a:xfrm>
          <a:prstGeom prst="rect">
            <a:avLst/>
          </a:prstGeom>
          <a:solidFill>
            <a:srgbClr val="61AFFF"/>
          </a:solidFill>
          <a:ln w="12700">
            <a:solidFill>
              <a:srgbClr val="61A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121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AMBIGUITY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" y="2496312"/>
            <a:ext cx="3081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口语信息不完整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" y="303580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“转给王明三百元”可能匹配多个联系人。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“少花三百”不代表可以自行取消协议。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520440" cy="2487168"/>
          </a:xfrm>
          <a:prstGeom prst="roundRect">
            <a:avLst>
              <a:gd name="adj" fmla="val 5882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066544"/>
            <a:ext cx="41148" cy="2194560"/>
          </a:xfrm>
          <a:prstGeom prst="rect">
            <a:avLst/>
          </a:prstGeom>
          <a:solidFill>
            <a:srgbClr val="F4B85A"/>
          </a:solidFill>
          <a:ln w="12700">
            <a:solidFill>
              <a:srgbClr val="F4B85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2121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CONSEQUENCE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62856" y="2496312"/>
            <a:ext cx="3081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操作影响真实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62856" y="303580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对象或金额猜错会改变资金状态。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计划必须先展示影响，再请求授权。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28432" y="1920240"/>
            <a:ext cx="3520440" cy="2487168"/>
          </a:xfrm>
          <a:prstGeom prst="roundRect">
            <a:avLst>
              <a:gd name="adj" fmla="val 5882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8432" y="2066544"/>
            <a:ext cx="41148" cy="2194560"/>
          </a:xfrm>
          <a:prstGeom prst="rect">
            <a:avLst/>
          </a:prstGeom>
          <a:solidFill>
            <a:srgbClr val="8ADCF0"/>
          </a:solidFill>
          <a:ln w="12700">
            <a:solidFill>
              <a:srgbClr val="8ADCF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7888" y="2121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8AD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EVIDENCE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47888" y="2496312"/>
            <a:ext cx="3081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结果需要核验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7888" y="303580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执行后提供逐项回执与本地证据。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不把“模型说成功”当作交易完成。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507492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172941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2486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127248" y="520293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900" dirty="0"/>
          </a:p>
        </p:txBody>
      </p:sp>
      <p:sp>
        <p:nvSpPr>
          <p:cNvPr id="25" name="Shape 23"/>
          <p:cNvSpPr/>
          <p:nvPr/>
        </p:nvSpPr>
        <p:spPr>
          <a:xfrm>
            <a:off x="3657600" y="507492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172941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52486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D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核验计划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70448" y="520293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900" dirty="0"/>
          </a:p>
        </p:txBody>
      </p:sp>
      <p:sp>
        <p:nvSpPr>
          <p:cNvPr id="28" name="Shape 26"/>
          <p:cNvSpPr/>
          <p:nvPr/>
        </p:nvSpPr>
        <p:spPr>
          <a:xfrm>
            <a:off x="6400800" y="507492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172941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52486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明确授权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13648" y="520293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900" dirty="0"/>
          </a:p>
        </p:txBody>
      </p:sp>
      <p:sp>
        <p:nvSpPr>
          <p:cNvPr id="31" name="Shape 29"/>
          <p:cNvSpPr/>
          <p:nvPr/>
        </p:nvSpPr>
        <p:spPr>
          <a:xfrm>
            <a:off x="9144000" y="507492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172941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52486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操作回执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 /   AI BANKING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模型负责理解，工具负责执行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输出被限制为意图字段；资金状态只由经过复核的服务端工具改变。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965960"/>
            <a:ext cx="1993392" cy="1993392"/>
          </a:xfrm>
          <a:prstGeom prst="roundRect">
            <a:avLst>
              <a:gd name="adj" fmla="val 733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945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6334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对话输入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312724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交易/联系人证据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88336" y="2935224"/>
            <a:ext cx="283464" cy="0"/>
          </a:xfrm>
          <a:prstGeom prst="line">
            <a:avLst/>
          </a:prstGeom>
          <a:noFill/>
          <a:ln w="20320">
            <a:solidFill>
              <a:srgbClr val="61AF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52928" y="1965960"/>
            <a:ext cx="1993392" cy="1993392"/>
          </a:xfrm>
          <a:prstGeom prst="roundRect">
            <a:avLst>
              <a:gd name="adj" fmla="val 733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21945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AD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35808" y="26334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受限意图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35808" y="312724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规则优先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模型可选、离线可用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82896" y="2935224"/>
            <a:ext cx="283464" cy="0"/>
          </a:xfrm>
          <a:prstGeom prst="line">
            <a:avLst/>
          </a:prstGeom>
          <a:noFill/>
          <a:ln w="20320">
            <a:solidFill>
              <a:srgbClr val="61AF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47488" y="1965960"/>
            <a:ext cx="1993392" cy="1993392"/>
          </a:xfrm>
          <a:prstGeom prst="roundRect">
            <a:avLst>
              <a:gd name="adj" fmla="val 733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21945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26334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确定性校验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230368" y="312724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 / 对象 / 状态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权限与快照复核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77456" y="2935224"/>
            <a:ext cx="283464" cy="0"/>
          </a:xfrm>
          <a:prstGeom prst="line">
            <a:avLst/>
          </a:prstGeom>
          <a:noFill/>
          <a:ln w="20320">
            <a:solidFill>
              <a:srgbClr val="61AF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42048" y="1965960"/>
            <a:ext cx="1993392" cy="1993392"/>
          </a:xfrm>
          <a:prstGeom prst="roundRect">
            <a:avLst>
              <a:gd name="adj" fmla="val 733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928" y="21945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24928" y="26334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24928" y="312724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确认计划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高风险追加挑战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72016" y="2935224"/>
            <a:ext cx="283464" cy="0"/>
          </a:xfrm>
          <a:prstGeom prst="line">
            <a:avLst/>
          </a:prstGeom>
          <a:noFill/>
          <a:ln w="20320">
            <a:solidFill>
              <a:srgbClr val="61AF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36608" y="1965960"/>
            <a:ext cx="2057400" cy="1993392"/>
          </a:xfrm>
          <a:prstGeom prst="roundRect">
            <a:avLst>
              <a:gd name="adj" fmla="val 733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19488" y="2194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26334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模拟账本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619488" y="31272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事务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审计与操作回执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65960" y="4617720"/>
            <a:ext cx="8229600" cy="841248"/>
          </a:xfrm>
          <a:prstGeom prst="roundRect">
            <a:avLst>
              <a:gd name="adj" fmla="val 17391"/>
            </a:avLst>
          </a:prstGeom>
          <a:solidFill>
            <a:srgbClr val="0E1929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480060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47823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没有直接模型写账本的路径   ·   执行前复核金额与状态   ·   幂等回执防重复提交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057400" y="5733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模型输出是待核对的输入，不是授权，也不是银行回执。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 /   AI BANKING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账单分析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从“花了多少”到可追溯证据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回答附带期间、分类、笔数和来源流水；缺少可比基数时明确说明。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792224"/>
            <a:ext cx="6565392" cy="3721608"/>
          </a:xfrm>
          <a:prstGeom prst="roundRect">
            <a:avLst>
              <a:gd name="adj" fmla="val 2948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pic>
        <p:nvPicPr>
          <p:cNvPr id="8" name="Image 0" descr="insights qu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28800"/>
            <a:ext cx="6492240" cy="3648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52360" y="1828800"/>
            <a:ext cx="4069080" cy="3648456"/>
          </a:xfrm>
          <a:prstGeom prst="roundRect">
            <a:avLst>
              <a:gd name="adj" fmla="val 4010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2194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/ 08   ·   餐饮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90688" y="27249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¥137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7818120" y="3438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笔支出   /   可打开原交易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18120" y="3959352"/>
            <a:ext cx="3246120" cy="0"/>
          </a:xfrm>
          <a:prstGeom prst="line">
            <a:avLst/>
          </a:prstGeom>
          <a:noFill/>
          <a:ln w="12700">
            <a:solidFill>
              <a:srgbClr val="293D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4251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上期缺少可比基数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18120" y="46451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因此不计算增长率，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并展示统计范围与口径。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 /   AI BANKING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账单联动订阅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目标可以跨场景拆成可确认的计划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支出目标 → 找到可操作的订阅候选 → 用户选择 → 重算目标差额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15584" y="1792224"/>
            <a:ext cx="5742432" cy="3264408"/>
          </a:xfrm>
          <a:prstGeom prst="roundRect">
            <a:avLst>
              <a:gd name="adj" fmla="val 3361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pic>
        <p:nvPicPr>
          <p:cNvPr id="8" name="Image 0" descr="spending plan rece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828800"/>
            <a:ext cx="5669280" cy="31912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" y="1984248"/>
            <a:ext cx="4718304" cy="621792"/>
          </a:xfrm>
          <a:prstGeom prst="roundRect">
            <a:avLst>
              <a:gd name="adj" fmla="val 14706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2148840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67712" y="213969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下月少花 ¥300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13232" y="2798064"/>
            <a:ext cx="4718304" cy="621792"/>
          </a:xfrm>
          <a:prstGeom prst="roundRect">
            <a:avLst>
              <a:gd name="adj" fmla="val 14706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296265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AD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67712" y="29535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青柠音乐 ¥128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3232" y="3611880"/>
            <a:ext cx="4718304" cy="621792"/>
          </a:xfrm>
          <a:prstGeom prst="roundRect">
            <a:avLst>
              <a:gd name="adj" fmla="val 14706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377647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用户选择并确认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67712" y="37673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仅取消这一项模拟代扣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13232" y="4425696"/>
            <a:ext cx="4718304" cy="621792"/>
          </a:xfrm>
          <a:prstGeom prst="roundRect">
            <a:avLst>
              <a:gd name="adj" fmla="val 14706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459028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F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267712" y="45811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仍差 ¥172；不表示退款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86384" y="54406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协议取消不等于商户确认退订，也不产生退款。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 /   AI BANKING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智能转账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转账不是一句话就扣款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让模糊对象停下来，让清晰计划可检查，让高风险操作多一道授权。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011680"/>
            <a:ext cx="3063240" cy="2395728"/>
          </a:xfrm>
          <a:prstGeom prst="roundRect">
            <a:avLst>
              <a:gd name="adj" fmla="val 6107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267712"/>
            <a:ext cx="502920" cy="502920"/>
          </a:xfrm>
          <a:prstGeom prst="ellipse">
            <a:avLst/>
          </a:prstGeom>
          <a:solidFill>
            <a:srgbClr val="172941"/>
          </a:solidFill>
          <a:ln w="15240">
            <a:solidFill>
              <a:srgbClr val="61A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27632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3072384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“王明”有重名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41832" y="36027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列出脱敏线索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缺少选择就继续追问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22192" y="3026664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069080" y="2011680"/>
            <a:ext cx="3063240" cy="2395728"/>
          </a:xfrm>
          <a:prstGeom prst="roundRect">
            <a:avLst>
              <a:gd name="adj" fmla="val 6107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267712"/>
            <a:ext cx="502920" cy="502920"/>
          </a:xfrm>
          <a:prstGeom prst="ellipse">
            <a:avLst/>
          </a:prstGeom>
          <a:solidFill>
            <a:srgbClr val="172941"/>
          </a:solidFill>
          <a:ln w="15240">
            <a:solidFill>
              <a:srgbClr val="8A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D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AD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3072384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收款人 / 金额 / 备注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97680" y="36027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冻结本次操作快照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展示执行前余额与限额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8040" y="3026664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24928" y="2011680"/>
            <a:ext cx="3063240" cy="2395728"/>
          </a:xfrm>
          <a:prstGeom prst="roundRect">
            <a:avLst>
              <a:gd name="adj" fmla="val 6107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53528" y="2267712"/>
            <a:ext cx="502920" cy="502920"/>
          </a:xfrm>
          <a:prstGeom prst="ellipse">
            <a:avLst/>
          </a:prstGeom>
          <a:solidFill>
            <a:srgbClr val="172941"/>
          </a:solidFill>
          <a:ln w="15240">
            <a:solidFill>
              <a:srgbClr val="F4B8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53528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39328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53528" y="3072384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确认后再次复核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53528" y="36027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超阈值进入模拟挑战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验证后仍需单独确认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81328" y="4956048"/>
            <a:ext cx="9098280" cy="694944"/>
          </a:xfrm>
          <a:prstGeom prst="roundRect">
            <a:avLst>
              <a:gd name="adj" fmla="val 13158"/>
            </a:avLst>
          </a:prstGeom>
          <a:solidFill>
            <a:srgbClr val="0E1929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5175504"/>
            <a:ext cx="8558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相同操作 ID 重放既有回执；不会因为客户端重试而重复记账。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 /   AI BANKING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跨场景协同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同一条授权链，覆盖不同业务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每个场景都只推进到当前可证明的状态，不把计划误报成到账或完成。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5605272" cy="3182112"/>
          </a:xfrm>
          <a:prstGeom prst="roundRect">
            <a:avLst>
              <a:gd name="adj" fmla="val 3448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pic>
        <p:nvPicPr>
          <p:cNvPr id="8" name="Image 0" descr="birthday reserv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828800"/>
            <a:ext cx="5532120" cy="3108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65392" y="1847088"/>
            <a:ext cx="4709160" cy="658368"/>
          </a:xfrm>
          <a:prstGeom prst="roundRect">
            <a:avLst>
              <a:gd name="adj" fmla="val 1388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93992" y="19568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资金预留与生日任务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93992" y="221284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预算先预留，再在任务窗口内模拟下单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65392" y="2697480"/>
            <a:ext cx="4709160" cy="658368"/>
          </a:xfrm>
          <a:prstGeom prst="roundRect">
            <a:avLst>
              <a:gd name="adj" fmla="val 1388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93992" y="28072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AD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 收款与结算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93992" y="306324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整数分分摊、逐笔回款与可追溯回执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65392" y="3547872"/>
            <a:ext cx="4709160" cy="658368"/>
          </a:xfrm>
          <a:prstGeom prst="roundRect">
            <a:avLst>
              <a:gd name="adj" fmla="val 1388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93992" y="36576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卡片与模拟支付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93992" y="391363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卡状态由后端支付校验再次核对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65392" y="4398264"/>
            <a:ext cx="4709160" cy="658368"/>
          </a:xfrm>
          <a:prstGeom prst="roundRect">
            <a:avLst>
              <a:gd name="adj" fmla="val 1388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93992" y="45079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投资申购与赎回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93992" y="476402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展示评估、授权与待结算状态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525780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示例中 ¥1,000 仅为虚构生日任务预算；当前截图状态为预留中、未下单。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 /   AI BANKING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权限分级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风险级别由后端决定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模型和前端都不能自行降低某个操作的验证要求。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127248" cy="2670048"/>
          </a:xfrm>
          <a:prstGeom prst="roundRect">
            <a:avLst>
              <a:gd name="adj" fmla="val 547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249424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172941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3172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50976" y="27797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只读查询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9264" y="3364992"/>
            <a:ext cx="82296" cy="82296"/>
          </a:xfrm>
          <a:prstGeom prst="ellipse">
            <a:avLst/>
          </a:prstGeom>
          <a:solidFill>
            <a:srgbClr val="61AFFF"/>
          </a:solidFill>
          <a:ln w="12700">
            <a:solidFill>
              <a:srgbClr val="61A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310128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余额与账单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9264" y="3749040"/>
            <a:ext cx="82296" cy="82296"/>
          </a:xfrm>
          <a:prstGeom prst="ellipse">
            <a:avLst/>
          </a:prstGeom>
          <a:solidFill>
            <a:srgbClr val="61AFFF"/>
          </a:solidFill>
          <a:ln w="12700">
            <a:solidFill>
              <a:srgbClr val="61A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694176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逐笔交易证据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9264" y="4133088"/>
            <a:ext cx="82296" cy="82296"/>
          </a:xfrm>
          <a:prstGeom prst="ellipse">
            <a:avLst/>
          </a:prstGeom>
          <a:solidFill>
            <a:srgbClr val="61AFFF"/>
          </a:solidFill>
          <a:ln w="12700">
            <a:solidFill>
              <a:srgbClr val="61A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4078224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只返回模拟数据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24528" y="2011680"/>
            <a:ext cx="3127248" cy="2670048"/>
          </a:xfrm>
          <a:prstGeom prst="roundRect">
            <a:avLst>
              <a:gd name="adj" fmla="val 547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25696" y="2249424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172941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233172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43984" y="27797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黄级确认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462272" y="3364992"/>
            <a:ext cx="82296" cy="82296"/>
          </a:xfrm>
          <a:prstGeom prst="ellipse">
            <a:avLst/>
          </a:prstGeom>
          <a:solidFill>
            <a:srgbClr val="F4B85A"/>
          </a:solidFill>
          <a:ln w="12700">
            <a:solidFill>
              <a:srgbClr val="F4B8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310128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取消代扣 / 锁卡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62272" y="3749040"/>
            <a:ext cx="82296" cy="82296"/>
          </a:xfrm>
          <a:prstGeom prst="ellipse">
            <a:avLst/>
          </a:prstGeom>
          <a:solidFill>
            <a:srgbClr val="F4B85A"/>
          </a:solidFill>
          <a:ln w="12700">
            <a:solidFill>
              <a:srgbClr val="F4B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694176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展示影响后确认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62272" y="4133088"/>
            <a:ext cx="82296" cy="82296"/>
          </a:xfrm>
          <a:prstGeom prst="ellipse">
            <a:avLst/>
          </a:prstGeom>
          <a:solidFill>
            <a:srgbClr val="F4B85A"/>
          </a:solidFill>
          <a:ln w="12700">
            <a:solidFill>
              <a:srgbClr val="F4B8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078224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执行时复核快照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17536" y="2011680"/>
            <a:ext cx="3127248" cy="2670048"/>
          </a:xfrm>
          <a:prstGeom prst="roundRect">
            <a:avLst>
              <a:gd name="adj" fmla="val 5479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18704" y="2249424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172941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91856" y="233172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EF77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CHALLENGE + CONFIRM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36992" y="27797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红级挑战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955280" y="3364992"/>
            <a:ext cx="82296" cy="82296"/>
          </a:xfrm>
          <a:prstGeom prst="ellipse">
            <a:avLst/>
          </a:prstGeom>
          <a:solidFill>
            <a:srgbClr val="EF7773"/>
          </a:solidFill>
          <a:ln w="12700">
            <a:solidFill>
              <a:srgbClr val="EF77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3310128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高金额或高风险动作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3749040"/>
            <a:ext cx="82296" cy="82296"/>
          </a:xfrm>
          <a:prstGeom prst="ellipse">
            <a:avLst/>
          </a:prstGeom>
          <a:solidFill>
            <a:srgbClr val="EF7773"/>
          </a:solidFill>
          <a:ln w="12700">
            <a:solidFill>
              <a:srgbClr val="EF77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3694176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当前计划绑定模拟挑战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55280" y="4133088"/>
            <a:ext cx="82296" cy="82296"/>
          </a:xfrm>
          <a:prstGeom prst="ellipse">
            <a:avLst/>
          </a:prstGeom>
          <a:solidFill>
            <a:srgbClr val="EF7773"/>
          </a:solidFill>
          <a:ln w="12700">
            <a:solidFill>
              <a:srgbClr val="EF77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6448" y="4078224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挑战后仍需单独确认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188720" y="5148072"/>
            <a:ext cx="9765792" cy="603504"/>
          </a:xfrm>
          <a:prstGeom prst="roundRect">
            <a:avLst>
              <a:gd name="adj" fmla="val 15152"/>
            </a:avLst>
          </a:prstGeom>
          <a:solidFill>
            <a:srgbClr val="0E1929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44752" y="5340096"/>
            <a:ext cx="9235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转账严格大于 ¥1,000 触发红级；部分挂失、投资等高风险动作不依赖金额。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28800" y="5971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演示挑战码直接显示在页面，不是真实 OTP、短信验证或银行身份认证。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 /   AI BANKING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验证与边界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把验证结果和能力边界一起报告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不把规则回退算成模型成功，也不把原型安全描述成银行级安全。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1874520"/>
            <a:ext cx="5010912" cy="3154680"/>
          </a:xfrm>
          <a:prstGeom prst="roundRect">
            <a:avLst>
              <a:gd name="adj" fmla="val 4638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194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REGRESSION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097280" y="35112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后端测试通过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09651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lint / build 通过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另有浏览器场景与隔离数据库验收记录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874520"/>
            <a:ext cx="5248656" cy="3154680"/>
          </a:xfrm>
          <a:prstGeom prst="roundRect">
            <a:avLst>
              <a:gd name="adj" fmla="val 4638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194560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EVALUATION · SYNTHETIC ONLY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277977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6336792" y="34564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合成请求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46136" y="277977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500" dirty="0"/>
          </a:p>
        </p:txBody>
      </p:sp>
      <p:sp>
        <p:nvSpPr>
          <p:cNvPr id="17" name="Text 15"/>
          <p:cNvSpPr/>
          <p:nvPr/>
        </p:nvSpPr>
        <p:spPr>
          <a:xfrm>
            <a:off x="7836408" y="34564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401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45752" y="277977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8AD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500" dirty="0"/>
          </a:p>
        </p:txBody>
      </p:sp>
      <p:sp>
        <p:nvSpPr>
          <p:cNvPr id="19" name="Text 17"/>
          <p:cNvSpPr/>
          <p:nvPr/>
        </p:nvSpPr>
        <p:spPr>
          <a:xfrm>
            <a:off x="9336024" y="34564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部分可解析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10528" y="409651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唯一成功响应未核验收款人和备注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样本太少，不报告模型准确率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VERALANE   /   AI BANKING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交付与总结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演示可访问，边界也可审查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EA1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当前云端用于受控竞赛评审；项目不连接真实银行、不执行真实资金交易。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4800600" cy="2633472"/>
          </a:xfrm>
          <a:prstGeom prst="roundRect">
            <a:avLst>
              <a:gd name="adj" fmla="val 5556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249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2697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demo.wuyeni.cn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992" y="336499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 + 单一共享口令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应用只监听服务器回环地址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模型离线，数据为虚构演示账本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0176" y="1920240"/>
            <a:ext cx="5394960" cy="2633472"/>
          </a:xfrm>
          <a:prstGeom prst="roundRect">
            <a:avLst>
              <a:gd name="adj" fmla="val 5556"/>
            </a:avLst>
          </a:prstGeom>
          <a:solidFill>
            <a:srgbClr val="111F33"/>
          </a:solidFill>
          <a:ln w="10160">
            <a:solidFill>
              <a:srgbClr val="293D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24942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4B8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REMAINS OUT OF SCOPE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45936" y="2816352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真实身份体系  /  多账户隔离  /  银行接口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生产风控与清算  /  独立安全审查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2120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1A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理解需求，让工具核对事实，让用户保留授权权。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71800" y="58795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70" kern="0" dirty="0">
                <a:solidFill>
                  <a:srgbClr val="F2F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BANKING, VERIFIED.   谢谢。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VeraLane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VeraLane — Banking, verified.</dc:title>
  <dc:subject>2026 fintech hackathon · AI Banking</dc:subject>
  <dc:creator>VeraLane</dc:creator>
  <cp:lastModifiedBy>VeraLane</cp:lastModifiedBy>
  <cp:revision>1</cp:revision>
  <dcterms:created xsi:type="dcterms:W3CDTF">2026-10-09T04:25:07Z</dcterms:created>
  <dcterms:modified xsi:type="dcterms:W3CDTF">2026-10-09T04:25:07Z</dcterms:modified>
</cp:coreProperties>
</file>